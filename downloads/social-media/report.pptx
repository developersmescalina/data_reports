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Orgánico</c:v>
                </c:pt>
              </c:strCache>
            </c:strRef>
          </c:tx>
          <c:spPr>
            <a:solidFill>
              <a:srgbClr val="5FB8D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481216</c:v>
                </c:pt>
                <c:pt idx="1">
                  <c:v>406827</c:v>
                </c:pt>
                <c:pt idx="2">
                  <c:v>219892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Pauta</c:v>
                </c:pt>
              </c:strCache>
            </c:strRef>
          </c:tx>
          <c:spPr>
            <a:solidFill>
              <a:srgbClr val="F4A26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1504183</c:v>
                </c:pt>
                <c:pt idx="1">
                  <c:v>1065000</c:v>
                </c:pt>
                <c:pt idx="2">
                  <c:v>1296419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00000.0"/>
        </c:scaling>
        <c:delete val="0"/>
        <c:axPos val="l"/>
        <c:majorGridlines>
          <c:spPr>
            <a:ln>
              <a:solidFill>
                <a:srgbClr val="26303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7A8DA0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ln w="25400">
              <a:solidFill>
                <a:srgbClr val="5FB8D9"/>
              </a:solidFill>
            </a:ln>
          </c:spPr>
          <c:cat>
            <c:strRef>
              <c:f>Sheet1!$A$2:$A$13</c:f>
              <c:strCache>
                <c:ptCount val="12"/>
                <c:pt idx="0">
                  <c:v>E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706</c:v>
                </c:pt>
                <c:pt idx="1">
                  <c:v>1085</c:v>
                </c:pt>
                <c:pt idx="2">
                  <c:v>1672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7A8DA0"/>
              </a:solidFill>
            </a:ln>
          </c:spPr>
          <c:cat>
            <c:strRef>
              <c:f>Sheet1!$A$2:$A$13</c:f>
              <c:strCache>
                <c:ptCount val="12"/>
                <c:pt idx="0">
                  <c:v>E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398</c:v>
                </c:pt>
                <c:pt idx="1">
                  <c:v>797</c:v>
                </c:pt>
                <c:pt idx="2">
                  <c:v>1195</c:v>
                </c:pt>
                <c:pt idx="3">
                  <c:v>1594</c:v>
                </c:pt>
                <c:pt idx="4">
                  <c:v>1992</c:v>
                </c:pt>
                <c:pt idx="5">
                  <c:v>2390</c:v>
                </c:pt>
                <c:pt idx="6">
                  <c:v>2789</c:v>
                </c:pt>
                <c:pt idx="7">
                  <c:v>3187</c:v>
                </c:pt>
                <c:pt idx="8">
                  <c:v>3586</c:v>
                </c:pt>
                <c:pt idx="9">
                  <c:v>3984</c:v>
                </c:pt>
                <c:pt idx="10">
                  <c:v>4382</c:v>
                </c:pt>
                <c:pt idx="11">
                  <c:v>4779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200.0"/>
        </c:scaling>
        <c:delete val="0"/>
        <c:axPos val="l"/>
        <c:majorGridlines>
          <c:spPr>
            <a:ln>
              <a:solidFill>
                <a:srgbClr val="26303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7A8DA0"/>
              </a:solidFill>
              <a:latin typeface="Poppi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</c:v>
                </c:pt>
              </c:strCache>
            </c:strRef>
          </c:tx>
          <c:dPt>
            <c:idx val="0"/>
            <c:spPr>
              <a:solidFill>
                <a:srgbClr val="2EC4B6"/>
              </a:solidFill>
              <a:ln>
                <a:noFill/>
              </a:ln>
            </c:spPr>
          </c:dPt>
          <c:dPt>
            <c:idx val="1"/>
            <c:spPr>
              <a:solidFill>
                <a:srgbClr val="5FB8D9"/>
              </a:solidFill>
              <a:ln>
                <a:noFill/>
              </a:ln>
            </c:spPr>
          </c:dPt>
          <c:dPt>
            <c:idx val="2"/>
            <c:spPr>
              <a:solidFill>
                <a:srgbClr val="F4A261"/>
              </a:solidFill>
              <a:ln>
                <a:noFill/>
              </a:ln>
            </c:spPr>
          </c:dPt>
          <c:dPt>
            <c:idx val="3"/>
            <c:spPr>
              <a:solidFill>
                <a:srgbClr val="F78DA7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Compras 64%</c:v>
                </c:pt>
                <c:pt idx="1">
                  <c:v>Seguidores 12.5%</c:v>
                </c:pt>
                <c:pt idx="2">
                  <c:v>Engagement 12.3%</c:v>
                </c:pt>
                <c:pt idx="3">
                  <c:v>Awareness 11.2%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19200</c:v>
                </c:pt>
                <c:pt idx="1">
                  <c:v>3750</c:v>
                </c:pt>
                <c:pt idx="2">
                  <c:v>3675</c:v>
                </c:pt>
                <c:pt idx="3">
                  <c:v>3375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7A8DA0"/>
              </a:solidFill>
              <a:latin typeface="Poppi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5FB8D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Grand Pet</c:v>
                </c:pt>
                <c:pt idx="1">
                  <c:v>Kisha</c:v>
                </c:pt>
                <c:pt idx="2">
                  <c:v>Noble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7604</c:v>
                </c:pt>
                <c:pt idx="1">
                  <c:v>60825</c:v>
                </c:pt>
                <c:pt idx="2">
                  <c:v>9261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F78DA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Grand Pet</c:v>
                </c:pt>
                <c:pt idx="1">
                  <c:v>Kisha</c:v>
                </c:pt>
                <c:pt idx="2">
                  <c:v>Noble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20922</c:v>
                </c:pt>
                <c:pt idx="1">
                  <c:v>43595</c:v>
                </c:pt>
                <c:pt idx="2">
                  <c:v>38770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000.0"/>
        </c:scaling>
        <c:delete val="0"/>
        <c:axPos val="l"/>
        <c:majorGridlines>
          <c:spPr>
            <a:ln>
              <a:solidFill>
                <a:srgbClr val="26303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7A8DA0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5FB8D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Grand Pet</c:v>
                </c:pt>
                <c:pt idx="1">
                  <c:v>Kisha</c:v>
                </c:pt>
                <c:pt idx="2">
                  <c:v>Noble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166</c:v>
                </c:pt>
                <c:pt idx="1">
                  <c:v>2512</c:v>
                </c:pt>
                <c:pt idx="2">
                  <c:v>506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F78DA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Grand Pet</c:v>
                </c:pt>
                <c:pt idx="1">
                  <c:v>Kisha</c:v>
                </c:pt>
                <c:pt idx="2">
                  <c:v>Noble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1709</c:v>
                </c:pt>
                <c:pt idx="1">
                  <c:v>3257</c:v>
                </c:pt>
                <c:pt idx="2">
                  <c:v>4327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0.0"/>
        </c:scaling>
        <c:delete val="0"/>
        <c:axPos val="l"/>
        <c:majorGridlines>
          <c:spPr>
            <a:ln>
              <a:solidFill>
                <a:srgbClr val="26303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7A8DA0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ER</c:v>
                </c:pt>
              </c:strCache>
            </c:strRef>
          </c:tx>
          <c:dPt>
            <c:idx val="0"/>
            <c:spPr>
              <a:solidFill>
                <a:srgbClr val="8CCBE1"/>
              </a:solidFill>
              <a:ln>
                <a:noFill/>
              </a:ln>
            </c:spPr>
          </c:dPt>
          <c:dPt>
            <c:idx val="1"/>
            <c:spPr>
              <a:solidFill>
                <a:srgbClr val="5FB8D9"/>
              </a:solidFill>
              <a:ln>
                <a:noFill/>
              </a:ln>
            </c:spPr>
          </c:dPt>
          <c:dPt>
            <c:idx val="2"/>
            <c:spPr>
              <a:solidFill>
                <a:srgbClr val="F59ABA"/>
              </a:solidFill>
              <a:ln>
                <a:noFill/>
              </a:ln>
            </c:spPr>
          </c:dPt>
          <c:dPt>
            <c:idx val="3"/>
            <c:spPr>
              <a:solidFill>
                <a:srgbClr val="F06292"/>
              </a:solidFill>
              <a:ln>
                <a:noFill/>
              </a:ln>
            </c:spPr>
          </c:dPt>
          <c:dPt>
            <c:idx val="4"/>
            <c:spPr>
              <a:solidFill>
                <a:srgbClr val="8AC4F0"/>
              </a:solidFill>
              <a:ln>
                <a:noFill/>
              </a:ln>
            </c:spPr>
          </c:dPt>
          <c:dPt>
            <c:idx val="5"/>
            <c:spPr>
              <a:solidFill>
                <a:srgbClr val="42A5F5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GP·FB</c:v>
                </c:pt>
                <c:pt idx="1">
                  <c:v>GP·IG</c:v>
                </c:pt>
                <c:pt idx="2">
                  <c:v>Ki·FB</c:v>
                </c:pt>
                <c:pt idx="3">
                  <c:v>Ki·IG</c:v>
                </c:pt>
                <c:pt idx="4">
                  <c:v>No·FB</c:v>
                </c:pt>
                <c:pt idx="5">
                  <c:v>No·IG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2.18</c:v>
                </c:pt>
                <c:pt idx="1">
                  <c:v>8.17</c:v>
                </c:pt>
                <c:pt idx="2">
                  <c:v>4.13</c:v>
                </c:pt>
                <c:pt idx="3">
                  <c:v>7.47</c:v>
                </c:pt>
                <c:pt idx="4">
                  <c:v>5.46</c:v>
                </c:pt>
                <c:pt idx="5">
                  <c:v>11.16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.0"/>
        </c:scaling>
        <c:delete val="0"/>
        <c:axPos val="b"/>
        <c:majorGridlines>
          <c:spPr>
            <a:ln>
              <a:solidFill>
                <a:srgbClr val="26303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Interacciones</c:v>
                </c:pt>
              </c:strCache>
            </c:strRef>
          </c:tx>
          <c:dPt>
            <c:idx val="0"/>
            <c:spPr>
              <a:solidFill>
                <a:srgbClr val="2EC4B6"/>
              </a:solidFill>
              <a:ln>
                <a:noFill/>
              </a:ln>
            </c:spPr>
          </c:dPt>
          <c:dPt>
            <c:idx val="1"/>
            <c:spPr>
              <a:solidFill>
                <a:srgbClr val="F4A261"/>
              </a:solidFill>
              <a:ln>
                <a:noFill/>
              </a:ln>
            </c:spPr>
          </c:dPt>
          <c:dPt>
            <c:idx val="2"/>
            <c:spPr>
              <a:solidFill>
                <a:srgbClr val="5FB8D9"/>
              </a:solidFill>
              <a:ln>
                <a:noFill/>
              </a:ln>
            </c:spPr>
          </c:dPt>
          <c:dPt>
            <c:idx val="3"/>
            <c:spPr>
              <a:solidFill>
                <a:srgbClr val="F78DA7"/>
              </a:solidFill>
              <a:ln>
                <a:noFill/>
              </a:ln>
            </c:spPr>
          </c:dPt>
          <c:dPt>
            <c:idx val="4"/>
            <c:spPr>
              <a:solidFill>
                <a:srgbClr val="7A8DA0"/>
              </a:solidFill>
              <a:ln>
                <a:noFill/>
              </a:ln>
            </c:spPr>
          </c:dPt>
          <c:dPt>
            <c:idx val="5"/>
            <c:spPr>
              <a:solidFill>
                <a:srgbClr val="596B7D"/>
              </a:solidFill>
              <a:ln>
                <a:noFill/>
              </a:ln>
            </c:spPr>
          </c:dPt>
          <c:dPt>
            <c:idx val="6"/>
            <c:spPr>
              <a:solidFill>
                <a:srgbClr val="E76F51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Mascotas reales</c:v>
                </c:pt>
                <c:pt idx="1">
                  <c:v>Giveaway</c:v>
                </c:pt>
                <c:pt idx="2">
                  <c:v>Tendencias</c:v>
                </c:pt>
                <c:pt idx="3">
                  <c:v>Producto</c:v>
                </c:pt>
                <c:pt idx="4">
                  <c:v>Educativo</c:v>
                </c:pt>
                <c:pt idx="5">
                  <c:v>Temporalidad</c:v>
                </c:pt>
                <c:pt idx="6">
                  <c:v>Promo pura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4820</c:v>
                </c:pt>
                <c:pt idx="1">
                  <c:v>3950</c:v>
                </c:pt>
                <c:pt idx="2">
                  <c:v>2870</c:v>
                </c:pt>
                <c:pt idx="3">
                  <c:v>1540</c:v>
                </c:pt>
                <c:pt idx="4">
                  <c:v>1120</c:v>
                </c:pt>
                <c:pt idx="5">
                  <c:v>680</c:v>
                </c:pt>
                <c:pt idx="6">
                  <c:v>340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00.0"/>
        </c:scaling>
        <c:delete val="0"/>
        <c:axPos val="b"/>
        <c:majorGridlines>
          <c:spPr>
            <a:ln>
              <a:solidFill>
                <a:srgbClr val="26303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ER</c:v>
                </c:pt>
              </c:strCache>
            </c:strRef>
          </c:tx>
          <c:dPt>
            <c:idx val="0"/>
            <c:spPr>
              <a:solidFill>
                <a:srgbClr val="2EC4B6"/>
              </a:solidFill>
              <a:ln>
                <a:noFill/>
              </a:ln>
            </c:spPr>
          </c:dPt>
          <c:dPt>
            <c:idx val="1"/>
            <c:spPr>
              <a:solidFill>
                <a:srgbClr val="F4A261"/>
              </a:solidFill>
              <a:ln>
                <a:noFill/>
              </a:ln>
            </c:spPr>
          </c:dPt>
          <c:dPt>
            <c:idx val="2"/>
            <c:spPr>
              <a:solidFill>
                <a:srgbClr val="5FB8D9"/>
              </a:solidFill>
              <a:ln>
                <a:noFill/>
              </a:ln>
            </c:spPr>
          </c:dPt>
          <c:dPt>
            <c:idx val="3"/>
            <c:spPr>
              <a:solidFill>
                <a:srgbClr val="7A8DA0"/>
              </a:solidFill>
              <a:ln>
                <a:noFill/>
              </a:ln>
            </c:spPr>
          </c:dPt>
          <c:dPt>
            <c:idx val="4"/>
            <c:spPr>
              <a:solidFill>
                <a:srgbClr val="6A7A89"/>
              </a:solidFill>
              <a:ln>
                <a:noFill/>
              </a:ln>
            </c:spPr>
          </c:dPt>
          <c:dPt>
            <c:idx val="5"/>
            <c:spPr>
              <a:solidFill>
                <a:srgbClr val="5C6A78"/>
              </a:solidFill>
              <a:ln>
                <a:noFill/>
              </a:ln>
            </c:spPr>
          </c:dPt>
          <c:dPt>
            <c:idx val="6"/>
            <c:spPr>
              <a:solidFill>
                <a:srgbClr val="E76F51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Mascotas reales</c:v>
                </c:pt>
                <c:pt idx="1">
                  <c:v>Giveaway</c:v>
                </c:pt>
                <c:pt idx="2">
                  <c:v>Tendencias</c:v>
                </c:pt>
                <c:pt idx="3">
                  <c:v>Educativo</c:v>
                </c:pt>
                <c:pt idx="4">
                  <c:v>Producto</c:v>
                </c:pt>
                <c:pt idx="5">
                  <c:v>Temporalidad</c:v>
                </c:pt>
                <c:pt idx="6">
                  <c:v>Promo pura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12.4</c:v>
                </c:pt>
                <c:pt idx="1">
                  <c:v>10.8</c:v>
                </c:pt>
                <c:pt idx="2">
                  <c:v>9.1</c:v>
                </c:pt>
                <c:pt idx="3">
                  <c:v>5.3</c:v>
                </c:pt>
                <c:pt idx="4">
                  <c:v>4.1</c:v>
                </c:pt>
                <c:pt idx="5">
                  <c:v>3.2</c:v>
                </c:pt>
                <c:pt idx="6">
                  <c:v>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</c:scaling>
        <c:delete val="0"/>
        <c:axPos val="b"/>
        <c:majorGridlines>
          <c:spPr>
            <a:ln>
              <a:solidFill>
                <a:srgbClr val="26303B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solidFill>
              <a:srgbClr val="1E2A38"/>
            </a:solidFill>
          </a:ln>
        </c:spPr>
        <c:txPr>
          <a:bodyPr/>
          <a:lstStyle/>
          <a:p>
            <a:pPr>
              <a:defRPr sz="900">
                <a:solidFill>
                  <a:srgbClr val="7A8DA0"/>
                </a:solidFill>
                <a:latin typeface="Poppi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20040"/>
            <a:ext cx="3657600" cy="3657600"/>
          </a:xfrm>
          <a:prstGeom prst="ellipse">
            <a:avLst/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4480560"/>
            <a:ext cx="3200400" cy="32004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FB8D9"/>
                </a:solidFill>
                <a:latin typeface="Poppins"/>
              </a:rPr>
              <a:t>MESCALINA ® — STRATEGY &amp; DATA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5120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4E9EF"/>
                </a:solidFill>
                <a:latin typeface="Poppins"/>
              </a:rPr>
              <a:t>Grand Pet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81528"/>
            <a:ext cx="6217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4E9EF"/>
                </a:solidFill>
                <a:latin typeface="Poppins"/>
              </a:rPr>
              <a:t>Reporte 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57600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E4E9EF"/>
                </a:solidFill>
                <a:latin typeface="Poppins"/>
              </a:rPr>
              <a:t>&amp; </a:t>
            </a:r>
            <a:r>
              <a:rPr sz="4800" b="1" i="1">
                <a:solidFill>
                  <a:srgbClr val="F4A261"/>
                </a:solidFill>
                <a:latin typeface="Poppins"/>
              </a:rPr>
              <a:t>Pauta Digital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864608"/>
            <a:ext cx="18288" cy="347472"/>
          </a:xfrm>
          <a:prstGeom prst="rect">
            <a:avLst/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46320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DA0"/>
                </a:solidFill>
                <a:latin typeface="Poppins"/>
              </a:rPr>
              <a:t>PERIODO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01091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4E9EF"/>
                </a:solidFill>
                <a:latin typeface="Poppins"/>
              </a:rPr>
              <a:t>Marzo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03704" y="4864608"/>
            <a:ext cx="18288" cy="347472"/>
          </a:xfrm>
          <a:prstGeom prst="rect">
            <a:avLst/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4846320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DA0"/>
                </a:solidFill>
                <a:latin typeface="Poppins"/>
              </a:rPr>
              <a:t>MARCAS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010912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4E9EF"/>
                </a:solidFill>
                <a:latin typeface="Poppins"/>
              </a:rPr>
              <a:t>Grand Pet · Kisha · Noble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864608"/>
            <a:ext cx="18288" cy="347472"/>
          </a:xfrm>
          <a:prstGeom prst="rect">
            <a:avLst/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4846320"/>
            <a:ext cx="2468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DA0"/>
                </a:solidFill>
                <a:latin typeface="Poppins"/>
              </a:rPr>
              <a:t>CANALES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501091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4E9EF"/>
                </a:solidFill>
                <a:latin typeface="Poppins"/>
              </a:rPr>
              <a:t>Meta · Google · TikTok · Amazon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68896" y="4864608"/>
            <a:ext cx="18288" cy="347472"/>
          </a:xfrm>
          <a:prstGeom prst="rect">
            <a:avLst/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4846320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DA0"/>
                </a:solidFill>
                <a:latin typeface="Poppins"/>
              </a:rPr>
              <a:t>INVERSIÓN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501091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4E9EF"/>
                </a:solidFill>
                <a:latin typeface="Poppins"/>
              </a:rPr>
              <a:t>$30,000 MXN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15391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4E9EF"/>
                </a:solidFill>
                <a:latin typeface="Poppins"/>
              </a:rPr>
              <a:t>¿Qué queremos saber?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DA0"/>
                </a:solidFill>
                <a:latin typeface="Poppins"/>
              </a:rPr>
              <a:t>Cada sección del reporte responde una pregunta concreta con métricas específicas.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3063240" cy="214884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54480"/>
            <a:ext cx="3063240" cy="27432"/>
          </a:xfrm>
          <a:prstGeom prst="rect">
            <a:avLst/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4E9EF"/>
                </a:solidFill>
                <a:latin typeface="Poppins"/>
              </a:rPr>
              <a:t>¿Fuimos relevantes en la conversación digital?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090672"/>
            <a:ext cx="640080" cy="219456"/>
          </a:xfrm>
          <a:prstGeom prst="roundRect">
            <a:avLst>
              <a:gd name="adj" fmla="val 12000"/>
            </a:avLst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1" y="3118103"/>
            <a:ext cx="53035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FB8D9"/>
                </a:solidFill>
                <a:latin typeface="Poppins"/>
              </a:rPr>
              <a:t>Alcance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17904" y="3090672"/>
            <a:ext cx="969264" cy="219456"/>
          </a:xfrm>
          <a:prstGeom prst="roundRect">
            <a:avLst>
              <a:gd name="adj" fmla="val 12000"/>
            </a:avLst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91056" y="3118103"/>
            <a:ext cx="8595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FB8D9"/>
                </a:solidFill>
                <a:latin typeface="Poppins"/>
              </a:rPr>
              <a:t>Interacciones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032" y="3090672"/>
            <a:ext cx="804672" cy="219456"/>
          </a:xfrm>
          <a:prstGeom prst="roundRect">
            <a:avLst>
              <a:gd name="adj" fmla="val 12000"/>
            </a:avLst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5184" y="3118103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FB8D9"/>
                </a:solidFill>
                <a:latin typeface="Poppins"/>
              </a:rPr>
              <a:t>Fan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0791" y="1554480"/>
            <a:ext cx="3063240" cy="214884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50791" y="1554480"/>
            <a:ext cx="3063240" cy="2743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3" y="182880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4E9EF"/>
                </a:solidFill>
                <a:latin typeface="Poppins"/>
              </a:rPr>
              <a:t>¿La inversión digital generó resultados?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15383" y="3090672"/>
            <a:ext cx="530352" cy="219456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3118103"/>
            <a:ext cx="4206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Poppins"/>
              </a:rPr>
              <a:t>Clics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090672"/>
            <a:ext cx="512064" cy="219456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3118103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Poppins"/>
              </a:rPr>
              <a:t>CPC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67528" y="3090672"/>
            <a:ext cx="914400" cy="219456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118103"/>
            <a:ext cx="8046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Poppins"/>
              </a:rPr>
              <a:t>Conversiones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3090672"/>
            <a:ext cx="512064" cy="219456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3118103"/>
            <a:ext cx="4023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  <a:latin typeface="Poppins"/>
              </a:rPr>
              <a:t>ROAS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43216" y="1554480"/>
            <a:ext cx="3063240" cy="214884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3216" y="1554480"/>
            <a:ext cx="3063240" cy="2743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7808" y="182880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4E9EF"/>
                </a:solidFill>
                <a:latin typeface="Poppins"/>
              </a:rPr>
              <a:t>¿Los contenidos orgánicos funcionaron?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07808" y="3090672"/>
            <a:ext cx="1078992" cy="219456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3118103"/>
            <a:ext cx="96926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  <a:latin typeface="Poppins"/>
              </a:rPr>
              <a:t>Engagement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41664" y="3090672"/>
            <a:ext cx="1133856" cy="219456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14816" y="3118103"/>
            <a:ext cx="10241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  <a:latin typeface="Poppins"/>
              </a:rPr>
              <a:t>Best/Worst posts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0384" y="3090672"/>
            <a:ext cx="749808" cy="219456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03536" y="3118103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  <a:latin typeface="Poppins"/>
              </a:rPr>
              <a:t>Por marca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9651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FB8D9"/>
                </a:solidFill>
                <a:latin typeface="Poppins"/>
              </a:rPr>
              <a:t>PERIODO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26110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A8DA0"/>
                </a:solidFill>
                <a:latin typeface="Poppins"/>
              </a:rPr>
              <a:t>1 — 31 de Marzo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0791" y="409651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FB8D9"/>
                </a:solidFill>
                <a:latin typeface="Poppins"/>
              </a:rPr>
              <a:t>CANALES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0791" y="426110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A8DA0"/>
                </a:solidFill>
                <a:latin typeface="Poppins"/>
              </a:rPr>
              <a:t>Meta Ads, Google Ads, TikTok Ads, Amazon Ads, Orgánico (FB, IG, TT)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43216" y="409651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FB8D9"/>
                </a:solidFill>
                <a:latin typeface="Poppins"/>
              </a:rPr>
              <a:t>FUENTES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426110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A8DA0"/>
                </a:solidFill>
                <a:latin typeface="Poppins"/>
              </a:rPr>
              <a:t>Meta Business, Google Ads, TikTok Studio, Shopify, Ventas cliente</a:t>
            </a:r>
          </a:p>
        </p:txBody>
      </p:sp>
      <p:pic>
        <p:nvPicPr>
          <p:cNvPr id="42" name="Picture 41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FB8D9"/>
                </a:solidFill>
                <a:latin typeface="Poppins"/>
              </a:rPr>
              <a:t>01 — PERFORMANCE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4E9EF"/>
                </a:solidFill>
                <a:latin typeface="Poppins"/>
              </a:rPr>
              <a:t>¿Cómo vamos contra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35808"/>
            <a:ext cx="56692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1">
                <a:solidFill>
                  <a:srgbClr val="F4A261"/>
                </a:solidFill>
                <a:latin typeface="Poppins"/>
              </a:rPr>
              <a:t>objetivos 2026</a:t>
            </a:r>
          </a:p>
        </p:txBody>
      </p:sp>
      <p:pic>
        <p:nvPicPr>
          <p:cNvPr id="8" name="Picture 7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4E9EF"/>
                </a:solidFill>
                <a:latin typeface="Poppins"/>
              </a:rPr>
              <a:t>Performance integrada — Orgánico + Pauta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DA0"/>
                </a:solidFill>
                <a:latin typeface="Poppins"/>
              </a:rPr>
              <a:t>Comparativa contra metas anuales del forecast 2026. Datos consolidados de Grand Pet, Kisha y Noble.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591056"/>
          <a:ext cx="10561316" cy="256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383"/>
                <a:gridCol w="2170134"/>
                <a:gridCol w="1607506"/>
                <a:gridCol w="2009383"/>
                <a:gridCol w="1607506"/>
                <a:gridCol w="1157404"/>
              </a:tblGrid>
              <a:tr h="3584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KPI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META ANUAL 2026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MARZO 2026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YTD ACUMULADO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VS. FEBRERO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% AVANCE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</a:tr>
              <a:tr h="4403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4E9EF"/>
                          </a:solidFill>
                          <a:latin typeface="Poppins"/>
                        </a:rPr>
                        <a:t>Awareness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5,847,725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1,296,419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2,960,875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▲ +42%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25.3%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</a:tr>
              <a:tr h="4403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4E9EF"/>
                          </a:solidFill>
                          <a:latin typeface="Poppins"/>
                        </a:rPr>
                        <a:t>Engagement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259,951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28,506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58,414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▲ +18%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22.5%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</a:tr>
              <a:tr h="4403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4E9EF"/>
                          </a:solidFill>
                          <a:latin typeface="Poppins"/>
                        </a:rPr>
                        <a:t>ER Orgánico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4.13%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3.87%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5A6A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76F51"/>
                          </a:solidFill>
                          <a:latin typeface="Poppins"/>
                        </a:rPr>
                        <a:t>▼ -0.4pp</a:t>
                      </a:r>
                    </a:p>
                  </a:txBody>
                  <a:tcPr>
                    <a:solidFill>
                      <a:srgbClr val="3A24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4A261"/>
                          </a:solidFill>
                          <a:latin typeface="Poppins"/>
                        </a:rPr>
                        <a:t>N/A</a:t>
                      </a:r>
                    </a:p>
                  </a:txBody>
                  <a:tcPr>
                    <a:solidFill>
                      <a:srgbClr val="3A3020"/>
                    </a:solidFill>
                  </a:tcPr>
                </a:tc>
              </a:tr>
              <a:tr h="4403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4E9EF"/>
                          </a:solidFill>
                          <a:latin typeface="Poppins"/>
                        </a:rPr>
                        <a:t>Fans nuevos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4,779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587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1,672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▲ +31%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35.0%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</a:tr>
              <a:tr h="44037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4E9EF"/>
                          </a:solidFill>
                          <a:latin typeface="Poppins"/>
                        </a:rPr>
                        <a:t>Revenue (Pauta)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$1,770,636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$80,316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$183,334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▲ +12%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4A261"/>
                          </a:solidFill>
                          <a:latin typeface="Poppins"/>
                        </a:rPr>
                        <a:t>10.4%</a:t>
                      </a:r>
                    </a:p>
                  </a:txBody>
                  <a:tcPr>
                    <a:solidFill>
                      <a:srgbClr val="3A302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315968"/>
            <a:ext cx="10561320" cy="658368"/>
          </a:xfrm>
          <a:prstGeom prst="roundRect">
            <a:avLst>
              <a:gd name="adj" fmla="val 3000"/>
            </a:avLst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27432" cy="6583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443983"/>
            <a:ext cx="10305288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  <a:latin typeface="Poppins"/>
              </a:rPr>
              <a:t>Lectura clave: 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Marzo es el primer mes con inversión en 4 plataformas. Fans van por encima de meta (35% vs 25% esperado). Revenue ligeramente bajo — esperable: Amazon arranca sin data histórica.</a:t>
            </a:r>
          </a:p>
        </p:txBody>
      </p:sp>
      <p:pic>
        <p:nvPicPr>
          <p:cNvPr id="11" name="Picture 10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" y="384048"/>
            <a:ext cx="5577840" cy="539496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93776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DA0"/>
                </a:solidFill>
                <a:latin typeface="Poppins"/>
              </a:rPr>
              <a:t>ALCANCE MENSUAL: ORGÁNICO + PAUTA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868680"/>
          <a:ext cx="507492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99632" y="384048"/>
            <a:ext cx="5577840" cy="539496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493776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DA0"/>
                </a:solidFill>
                <a:latin typeface="Poppins"/>
              </a:rPr>
              <a:t>FANS ACUMULADOS VS. META 2026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0" y="868680"/>
          <a:ext cx="5120640" cy="4389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11" name="Picture 10" descr="Logo_Mescalin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FB8D9"/>
                </a:solidFill>
                <a:latin typeface="Poppins"/>
              </a:rPr>
              <a:t>02 — PERFORMANCE DE INVERSIÓN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4E9EF"/>
                </a:solidFill>
                <a:latin typeface="Poppins"/>
              </a:rPr>
              <a:t>¿La inversión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35808"/>
            <a:ext cx="56692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1">
                <a:solidFill>
                  <a:srgbClr val="F4A261"/>
                </a:solidFill>
                <a:latin typeface="Poppins"/>
              </a:rPr>
              <a:t>generó resultados</a:t>
            </a:r>
          </a:p>
        </p:txBody>
      </p:sp>
      <p:pic>
        <p:nvPicPr>
          <p:cNvPr id="8" name="Picture 7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4E9EF"/>
                </a:solidFill>
                <a:latin typeface="Poppins"/>
              </a:rPr>
              <a:t>Resultados de inversión — Marzo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43584"/>
            <a:ext cx="2523744" cy="877824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0817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DA0"/>
                </a:solidFill>
                <a:latin typeface="Poppins"/>
              </a:rPr>
              <a:t>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627632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4E9EF"/>
                </a:solidFill>
                <a:latin typeface="Poppins"/>
              </a:rPr>
              <a:t>$30K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82880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A8DA0"/>
                </a:solidFill>
                <a:latin typeface="Poppins"/>
              </a:rPr>
              <a:t>4 plataformas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243584"/>
            <a:ext cx="2523744" cy="877824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40817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DA0"/>
                </a:solidFill>
                <a:latin typeface="Poppins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627632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C4B6"/>
                </a:solidFill>
                <a:latin typeface="Poppins"/>
              </a:rPr>
              <a:t>$80.3K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182880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A8DA0"/>
                </a:solidFill>
                <a:latin typeface="Poppins"/>
              </a:rPr>
              <a:t>Solo campañas de compras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243584"/>
            <a:ext cx="2523744" cy="877824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40817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DA0"/>
                </a:solidFill>
                <a:latin typeface="Poppins"/>
              </a:rPr>
              <a:t>ROAS S/COMPRAS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627632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4A261"/>
                </a:solidFill>
                <a:latin typeface="Poppins"/>
              </a:rPr>
              <a:t>4.18x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82880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A8DA0"/>
                </a:solidFill>
                <a:latin typeface="Poppins"/>
              </a:rPr>
              <a:t>Sobre $19.2K conversión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8512" y="1243584"/>
            <a:ext cx="2523744" cy="877824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140817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A8DA0"/>
                </a:solidFill>
                <a:latin typeface="Poppins"/>
              </a:rPr>
              <a:t>IMPRESIONES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1627632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5FB8D9"/>
                </a:solidFill>
                <a:latin typeface="Poppins"/>
              </a:rPr>
              <a:t>2.4M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1828800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A8DA0"/>
                </a:solidFill>
                <a:latin typeface="Poppins"/>
              </a:rPr>
              <a:t>Todas las plataformas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3232" y="2359152"/>
          <a:ext cx="10515598" cy="1865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739"/>
                <a:gridCol w="1495482"/>
                <a:gridCol w="1967739"/>
                <a:gridCol w="1227869"/>
                <a:gridCol w="1495482"/>
                <a:gridCol w="1448256"/>
                <a:gridCol w="913031"/>
              </a:tblGrid>
              <a:tr h="2611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PLATAFORMA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BUDGET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IMPRESIONES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CLICS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REVENUE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ROAS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FANS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</a:tr>
              <a:tr h="4010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B8D9"/>
                          </a:solidFill>
                          <a:latin typeface="Poppins"/>
                        </a:rPr>
                        <a:t>Meta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$10,500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1,105,263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1,214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$8,316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4A261"/>
                          </a:solidFill>
                          <a:latin typeface="Poppins"/>
                        </a:rPr>
                        <a:t>1.98x</a:t>
                      </a:r>
                    </a:p>
                  </a:txBody>
                  <a:tcPr>
                    <a:solidFill>
                      <a:srgbClr val="3A3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116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4010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A4335"/>
                          </a:solidFill>
                          <a:latin typeface="Poppins"/>
                        </a:rPr>
                        <a:t>Google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$7,500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200,535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9,036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$49,500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6.60x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5A6A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4010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9900"/>
                          </a:solidFill>
                          <a:latin typeface="Poppins"/>
                        </a:rPr>
                        <a:t>Amazon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$7,500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625,000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2,143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$22,500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4A261"/>
                          </a:solidFill>
                          <a:latin typeface="Poppins"/>
                        </a:rPr>
                        <a:t>3.00x</a:t>
                      </a:r>
                    </a:p>
                  </a:txBody>
                  <a:tcPr>
                    <a:solidFill>
                      <a:srgbClr val="3A3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5A6A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40105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9C9D0"/>
                          </a:solidFill>
                          <a:latin typeface="Poppins"/>
                        </a:rPr>
                        <a:t>TikTok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$4,500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511,364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5A6A"/>
                          </a:solidFill>
                          <a:latin typeface="Poppins"/>
                        </a:rPr>
                        <a:t>—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A5A6A"/>
                          </a:solidFill>
                          <a:latin typeface="Poppins"/>
                        </a:rPr>
                        <a:t>N/A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A5A6A"/>
                          </a:solidFill>
                          <a:latin typeface="Poppins"/>
                        </a:rPr>
                        <a:t>Engage only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101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13232" y="4370832"/>
            <a:ext cx="10515600" cy="658368"/>
          </a:xfrm>
          <a:prstGeom prst="roundRect">
            <a:avLst>
              <a:gd name="adj" fmla="val 3000"/>
            </a:avLst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4370832"/>
            <a:ext cx="27432" cy="6583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498848"/>
            <a:ext cx="10259568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  <a:latin typeface="Poppins"/>
              </a:rPr>
              <a:t>Importante: 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ROAS se calcula </a:t>
            </a:r>
            <a:r>
              <a:rPr sz="1300" b="1" i="0">
                <a:solidFill>
                  <a:srgbClr val="E4E9EF"/>
                </a:solidFill>
                <a:latin typeface="Poppins"/>
              </a:rPr>
              <a:t>solo sobre el budget de conversión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 ($19.2K). El 36% restante va a awareness, engagement y seguidores — no genera revenue directo.</a:t>
            </a:r>
          </a:p>
        </p:txBody>
      </p:sp>
      <p:pic>
        <p:nvPicPr>
          <p:cNvPr id="26" name="Picture 25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4E9EF"/>
                </a:solidFill>
                <a:latin typeface="Poppins"/>
              </a:rPr>
              <a:t>Funnel de venta — Marzo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7A8DA0"/>
                </a:solidFill>
                <a:latin typeface="Poppins"/>
              </a:rPr>
              <a:t>Awareness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95728"/>
            <a:ext cx="5394960" cy="384048"/>
          </a:xfrm>
          <a:prstGeom prst="roundRect">
            <a:avLst>
              <a:gd name="adj" fmla="val 8000"/>
            </a:avLst>
          </a:prstGeom>
          <a:solidFill>
            <a:srgbClr val="5FB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2487168"/>
            <a:ext cx="5166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0F13"/>
                </a:solidFill>
                <a:latin typeface="Poppins"/>
              </a:rPr>
              <a:t>2,442,162 impresiones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7A8DA0"/>
                </a:solidFill>
                <a:latin typeface="Poppins"/>
              </a:rPr>
              <a:t>Interés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871216"/>
            <a:ext cx="4114800" cy="384048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3392" y="2962656"/>
            <a:ext cx="3886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0F13"/>
                </a:solidFill>
                <a:latin typeface="Poppins"/>
              </a:rPr>
              <a:t>12,393 clics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616" y="2962656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Poppins"/>
              </a:rPr>
              <a:t>0.51% CTR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1985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7A8DA0"/>
                </a:solidFill>
                <a:latin typeface="Poppins"/>
              </a:rPr>
              <a:t>Consideración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346704"/>
            <a:ext cx="2697480" cy="384048"/>
          </a:xfrm>
          <a:prstGeom prst="roundRect">
            <a:avLst>
              <a:gd name="adj" fmla="val 8000"/>
            </a:avLst>
          </a:prstGeom>
          <a:solidFill>
            <a:srgbClr val="F78D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3438144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0F13"/>
                </a:solidFill>
                <a:latin typeface="Poppins"/>
              </a:rPr>
              <a:t>~1,850 productos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43814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Poppins"/>
              </a:rPr>
              <a:t>14.9% de clics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9534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7A8DA0"/>
                </a:solidFill>
                <a:latin typeface="Poppins"/>
              </a:rPr>
              <a:t>Conversión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822191"/>
            <a:ext cx="1097280" cy="384048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3392" y="3913631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0F13"/>
                </a:solidFill>
                <a:latin typeface="Poppins"/>
              </a:rPr>
              <a:t>~320 ventas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3913631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  <a:latin typeface="Poppins"/>
              </a:rPr>
              <a:t>17.3% conv.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914400"/>
            <a:ext cx="3794760" cy="406908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02412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DA0"/>
                </a:solidFill>
                <a:latin typeface="Poppins"/>
              </a:rPr>
              <a:t>DISTRIBUCIÓN DE INVERSIÓN POR OBJETIVO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8257031" y="1298448"/>
          <a:ext cx="3310128" cy="29992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58368" y="5303520"/>
            <a:ext cx="11064240" cy="841248"/>
          </a:xfrm>
          <a:prstGeom prst="roundRect">
            <a:avLst>
              <a:gd name="adj" fmla="val 3000"/>
            </a:avLst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303520"/>
            <a:ext cx="27432" cy="84124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431536"/>
            <a:ext cx="1080820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  <a:latin typeface="Poppins"/>
              </a:rPr>
              <a:t>Lectura clave: 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La gráfica confirma que la estrategia de marzo fue </a:t>
            </a:r>
            <a:r>
              <a:rPr sz="1300" b="1" i="0">
                <a:solidFill>
                  <a:srgbClr val="F4A261"/>
                </a:solidFill>
                <a:latin typeface="Poppins"/>
              </a:rPr>
              <a:t>top-of-funnel first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: 64% del budget se destinó a conversión y el 36% restante a awareness, engagement y seguidores. Esto explica por qué el revenue ya responde con fuerza en </a:t>
            </a:r>
            <a:r>
              <a:rPr sz="1300" b="1" i="0">
                <a:solidFill>
                  <a:srgbClr val="F4A261"/>
                </a:solidFill>
                <a:latin typeface="Poppins"/>
              </a:rPr>
              <a:t>Google (6.60x ROAS)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 y </a:t>
            </a:r>
            <a:r>
              <a:rPr sz="1300" b="1" i="0">
                <a:solidFill>
                  <a:srgbClr val="F4A261"/>
                </a:solidFill>
                <a:latin typeface="Poppins"/>
              </a:rPr>
              <a:t>Amazon (3.00x)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, mientras </a:t>
            </a:r>
            <a:r>
              <a:rPr sz="1300" b="1" i="0">
                <a:solidFill>
                  <a:srgbClr val="F4A261"/>
                </a:solidFill>
                <a:latin typeface="Poppins"/>
              </a:rPr>
              <a:t>Meta (1.98x)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 y </a:t>
            </a:r>
            <a:r>
              <a:rPr sz="1300" b="1" i="0">
                <a:solidFill>
                  <a:srgbClr val="F4A261"/>
                </a:solidFill>
                <a:latin typeface="Poppins"/>
              </a:rPr>
              <a:t>TikTok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 cumplen un rol más claro de alimentación del embudo. La lectura correcta no es solo “cuánto vendió cada plataforma”, sino </a:t>
            </a:r>
            <a:r>
              <a:rPr sz="1300" b="1" i="0">
                <a:solidFill>
                  <a:srgbClr val="F4A261"/>
                </a:solidFill>
                <a:latin typeface="Poppins"/>
              </a:rPr>
              <a:t>cómo se distribuyó la inversión para construir demanda antes de capturarla.</a:t>
            </a:r>
          </a:p>
        </p:txBody>
      </p:sp>
      <p:pic>
        <p:nvPicPr>
          <p:cNvPr id="27" name="Picture 26" descr="Logo_Mescalin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267712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FB8D9"/>
                </a:solidFill>
                <a:latin typeface="Poppins"/>
              </a:rPr>
              <a:t>03 — DESEMPEÑO ORGÁNICO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5486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E4E9EF"/>
                </a:solidFill>
                <a:latin typeface="Poppins"/>
              </a:rPr>
              <a:t>¿Los contenidos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35808"/>
            <a:ext cx="56692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1">
                <a:solidFill>
                  <a:srgbClr val="F4A261"/>
                </a:solidFill>
                <a:latin typeface="Poppins"/>
              </a:rPr>
              <a:t>funcionaron</a:t>
            </a:r>
          </a:p>
        </p:txBody>
      </p:sp>
      <p:pic>
        <p:nvPicPr>
          <p:cNvPr id="8" name="Picture 7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4E9EF"/>
                </a:solidFill>
                <a:latin typeface="Poppins"/>
              </a:rPr>
              <a:t>Performance por marca ×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DA0"/>
                </a:solidFill>
                <a:latin typeface="Poppins"/>
              </a:rPr>
              <a:t>Datos orgánicos consolidados de Facebook e Instagram. Marzo 2026.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572768"/>
          <a:ext cx="10561317" cy="252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326"/>
                <a:gridCol w="1859387"/>
                <a:gridCol w="1022663"/>
                <a:gridCol w="1636260"/>
                <a:gridCol w="1766417"/>
                <a:gridCol w="1208601"/>
                <a:gridCol w="1022663"/>
              </a:tblGrid>
              <a:tr h="35332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MARCA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PLATAFORMA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POSTS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ALCANCE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INTERACCIONES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ER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7A8DA0"/>
                          </a:solidFill>
                          <a:latin typeface="Poppins"/>
                        </a:rPr>
                        <a:t>FANS +</a:t>
                      </a:r>
                    </a:p>
                  </a:txBody>
                  <a:tcPr>
                    <a:solidFill>
                      <a:srgbClr val="161D26"/>
                    </a:solidFill>
                  </a:tcPr>
                </a:tc>
              </a:tr>
              <a:tr h="3617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5FB8D9"/>
                          </a:solidFill>
                          <a:latin typeface="Poppins"/>
                        </a:rPr>
                        <a:t>Grand Pet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Facebook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15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7,604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166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4A261"/>
                          </a:solidFill>
                          <a:latin typeface="Poppins"/>
                        </a:rPr>
                        <a:t>2.18%</a:t>
                      </a:r>
                    </a:p>
                  </a:txBody>
                  <a:tcPr>
                    <a:solidFill>
                      <a:srgbClr val="3A3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+4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3617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4E9EF"/>
                          </a:solidFill>
                          <a:latin typeface="Poppins"/>
                        </a:rPr>
                        <a:t/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27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20,922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1,709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8.17%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+92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3617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06292"/>
                          </a:solidFill>
                          <a:latin typeface="Poppins"/>
                        </a:rPr>
                        <a:t>Kisha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Facebook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60,825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2,512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4.13%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+1,546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3617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4E9EF"/>
                          </a:solidFill>
                          <a:latin typeface="Poppins"/>
                        </a:rPr>
                        <a:t/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43,595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3,257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7.47%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+522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3617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42A5F5"/>
                          </a:solidFill>
                          <a:latin typeface="Poppins"/>
                        </a:rPr>
                        <a:t>Noble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Facebook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9,261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506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5.46%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+635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  <a:tr h="3617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4E9EF"/>
                          </a:solidFill>
                          <a:latin typeface="Poppins"/>
                        </a:rPr>
                        <a:t/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10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38,770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4,327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C4B6"/>
                          </a:solidFill>
                          <a:latin typeface="Poppins"/>
                        </a:rPr>
                        <a:t>11.16%</a:t>
                      </a:r>
                    </a:p>
                  </a:txBody>
                  <a:tcPr>
                    <a:solidFill>
                      <a:srgbClr val="1233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E4E9EF"/>
                          </a:solidFill>
                          <a:latin typeface="Poppins"/>
                        </a:rPr>
                        <a:t>+151</a:t>
                      </a:r>
                    </a:p>
                  </a:txBody>
                  <a:tcPr>
                    <a:solidFill>
                      <a:srgbClr val="0F141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315968"/>
            <a:ext cx="10561320" cy="658368"/>
          </a:xfrm>
          <a:prstGeom prst="roundRect">
            <a:avLst>
              <a:gd name="adj" fmla="val 3000"/>
            </a:avLst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315968"/>
            <a:ext cx="27432" cy="6583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4443983"/>
            <a:ext cx="10305288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  <a:latin typeface="Poppins"/>
              </a:rPr>
              <a:t>Hallazgo: 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Noble lidera ER en Instagram (11.16%) con la base más pequeña. IG es el canal de fidelización; FB es motor de alcance (Kisha: 60K orgánico). La audiencia pequeña pero comprometida es más valiosa.</a:t>
            </a:r>
          </a:p>
        </p:txBody>
      </p:sp>
      <p:pic>
        <p:nvPicPr>
          <p:cNvPr id="11" name="Picture 10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384048"/>
            <a:ext cx="3694176" cy="301752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493776"/>
            <a:ext cx="34655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DA0"/>
                </a:solidFill>
                <a:latin typeface="Poppins"/>
              </a:rPr>
              <a:t>ALCANCE POR MARCA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2816" y="384048"/>
            <a:ext cx="3694176" cy="301752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1" y="493776"/>
            <a:ext cx="34655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DA0"/>
                </a:solidFill>
                <a:latin typeface="Poppins"/>
              </a:rPr>
              <a:t>INTERACCIONES POR MARCA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1" y="384048"/>
            <a:ext cx="3694176" cy="301752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8" y="493776"/>
            <a:ext cx="34655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DA0"/>
                </a:solidFill>
                <a:latin typeface="Poppins"/>
              </a:rPr>
              <a:t>ER POR MARCA × PLATAFORMA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8" y="768096"/>
          <a:ext cx="329184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443984" y="768096"/>
          <a:ext cx="3291840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8229600" y="768096"/>
          <a:ext cx="3246120" cy="21945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" y="3639312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4E9EF"/>
                </a:solidFill>
                <a:latin typeface="Poppins"/>
              </a:rPr>
              <a:t>Semáforo de Engagement Rate — Grand Pet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77639"/>
            <a:ext cx="2926080" cy="1097280"/>
          </a:xfrm>
          <a:prstGeom prst="roundRect">
            <a:avLst>
              <a:gd name="adj" fmla="val 4000"/>
            </a:avLst>
          </a:prstGeom>
          <a:solidFill>
            <a:srgbClr val="2EC4B6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169663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2EC4B6"/>
                </a:solidFill>
                <a:latin typeface="Poppins"/>
              </a:rPr>
              <a:t>8% — 15%+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425696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2EC4B6"/>
                </a:solidFill>
                <a:latin typeface="Poppins"/>
              </a:rPr>
              <a:t>Excelente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6085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7A8DA0"/>
                </a:solidFill>
                <a:latin typeface="Poppins"/>
              </a:rPr>
              <a:t>Mascotas reales, giveaways, tendencias virales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8" y="3977639"/>
            <a:ext cx="2926080" cy="1097280"/>
          </a:xfrm>
          <a:prstGeom prst="roundRect">
            <a:avLst>
              <a:gd name="adj" fmla="val 4000"/>
            </a:avLst>
          </a:prstGeom>
          <a:solidFill>
            <a:srgbClr val="F4A261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4169663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F4A261"/>
                </a:solidFill>
                <a:latin typeface="Poppins"/>
              </a:rPr>
              <a:t>3% — 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4425696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4A261"/>
                </a:solidFill>
                <a:latin typeface="Poppins"/>
              </a:rPr>
              <a:t>Bueno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46085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7A8DA0"/>
                </a:solidFill>
                <a:latin typeface="Poppins"/>
              </a:rPr>
              <a:t>Producto, educativo, promociones con incentivo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3977639"/>
            <a:ext cx="2926080" cy="1097280"/>
          </a:xfrm>
          <a:prstGeom prst="roundRect">
            <a:avLst>
              <a:gd name="adj" fmla="val 4000"/>
            </a:avLst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4169663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 i="0">
                <a:solidFill>
                  <a:srgbClr val="E76F51"/>
                </a:solidFill>
                <a:latin typeface="Poppins"/>
              </a:rPr>
              <a:t>0% — 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4425696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E76F51"/>
                </a:solidFill>
                <a:latin typeface="Poppins"/>
              </a:rPr>
              <a:t>Bajo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46085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7A8DA0"/>
                </a:solidFill>
                <a:latin typeface="Poppins"/>
              </a:rPr>
              <a:t>Genérico, excesivamente comercial, sin CTA</a:t>
            </a:r>
          </a:p>
        </p:txBody>
      </p:sp>
      <p:pic>
        <p:nvPicPr>
          <p:cNvPr id="27" name="Picture 26" descr="Logo_Mescalin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4E9EF"/>
                </a:solidFill>
                <a:latin typeface="Poppins"/>
              </a:rPr>
              <a:t>Análisis de nichos — ¿Qué tipo de contenido genera resultados?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7A8DA0"/>
                </a:solidFill>
                <a:latin typeface="Poppins"/>
              </a:rPr>
              <a:t>74 contenidos publicados en marzo, etiquetados por categoría temática.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5138928" cy="338328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99616"/>
            <a:ext cx="4910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DA0"/>
                </a:solidFill>
                <a:latin typeface="Poppins"/>
              </a:rPr>
              <a:t>INTERACCIONES POR NICHO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96112" y="1783080"/>
          <a:ext cx="4681728" cy="245059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016752" y="1389888"/>
            <a:ext cx="5138928" cy="338328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499616"/>
            <a:ext cx="4910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8DA0"/>
                </a:solidFill>
                <a:latin typeface="Poppins"/>
              </a:rPr>
              <a:t>ER PROMEDIO POR NICHO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254496" y="1783080"/>
          <a:ext cx="4681728" cy="245059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" y="4992624"/>
            <a:ext cx="10497312" cy="658368"/>
          </a:xfrm>
          <a:prstGeom prst="roundRect">
            <a:avLst>
              <a:gd name="adj" fmla="val 3000"/>
            </a:avLst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992624"/>
            <a:ext cx="27432" cy="6583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5120640"/>
            <a:ext cx="10241280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  <a:latin typeface="Poppins"/>
              </a:rPr>
              <a:t>Hallazgo: 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Contenido con </a:t>
            </a:r>
            <a:r>
              <a:rPr sz="1300" b="1" i="0">
                <a:solidFill>
                  <a:srgbClr val="E4E9EF"/>
                </a:solidFill>
                <a:latin typeface="Poppins"/>
              </a:rPr>
              <a:t>mascotas reales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 = ER 12.4%. Contenido </a:t>
            </a:r>
            <a:r>
              <a:rPr sz="1300" b="1" i="0">
                <a:solidFill>
                  <a:srgbClr val="E4E9EF"/>
                </a:solidFill>
                <a:latin typeface="Poppins"/>
              </a:rPr>
              <a:t>promo pura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 = ER 2.3%. Los usuarios quieren ver animales reales, no solo ofertas. La estrategia de contenido debe reflejar esto.</a:t>
            </a:r>
          </a:p>
        </p:txBody>
      </p:sp>
      <p:pic>
        <p:nvPicPr>
          <p:cNvPr id="16" name="Picture 15" descr="Logo_Mescalin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4E9EF"/>
                </a:solidFill>
                <a:latin typeface="Poppins"/>
              </a:rPr>
              <a:t>Conversación — ¿Qué dice la comunidad?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07008"/>
            <a:ext cx="4846320" cy="100584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3048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408176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DA0"/>
                </a:solidFill>
                <a:latin typeface="Poppins"/>
              </a:rPr>
              <a:t>SENTIMIENTO POSITIVO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682496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EC4B6"/>
                </a:solidFill>
                <a:latin typeface="Poppins"/>
              </a:rPr>
              <a:t>89.4%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4825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A8DA0"/>
                </a:solidFill>
                <a:latin typeface="Poppins"/>
              </a:rPr>
              <a:t>Elogios a producto y contenido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207008"/>
            <a:ext cx="4846320" cy="1005840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304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408176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DA0"/>
                </a:solidFill>
                <a:latin typeface="Poppins"/>
              </a:rPr>
              <a:t>SENTIMIENTO NEGATIVO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682496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76F51"/>
                </a:solidFill>
                <a:latin typeface="Poppins"/>
              </a:rPr>
              <a:t>10.6%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04825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7A8DA0"/>
                </a:solidFill>
                <a:latin typeface="Poppins"/>
              </a:rPr>
              <a:t>Quejas de empaque y distribución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395728"/>
            <a:ext cx="4846320" cy="932688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3048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59689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C4B6"/>
                </a:solidFill>
                <a:latin typeface="Poppins"/>
              </a:rPr>
              <a:t>POSITIVO — PRODUCTO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816352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A8DA0"/>
                </a:solidFill>
                <a:latin typeface="Poppins"/>
              </a:rPr>
              <a:t>"Mis perros aman Noble, se nota la diferencia en su pelaje desde que cambiamos de marca."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2395728"/>
            <a:ext cx="4846320" cy="932688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3048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259689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C4B6"/>
                </a:solidFill>
                <a:latin typeface="Poppins"/>
              </a:rPr>
              <a:t>POSITIVO — CONTENIDO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16352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A8DA0"/>
                </a:solidFill>
                <a:latin typeface="Poppins"/>
              </a:rPr>
              <a:t>"¡El video del perrito en la fábrica es lo mejor que he visto hoy! Más contenido así por favor."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11296"/>
            <a:ext cx="4846320" cy="932688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304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712463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Poppins"/>
              </a:rPr>
              <a:t>NEGATIVO — EMPAQUE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931920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A8DA0"/>
                </a:solidFill>
                <a:latin typeface="Poppins"/>
              </a:rPr>
              <a:t>"Llegó mi pedido de Kisha y el empaque venía roto, las croquetas húmedas. Es la segunda vez."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3511296"/>
            <a:ext cx="4846320" cy="932688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3048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3712463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76F51"/>
                </a:solidFill>
                <a:latin typeface="Poppins"/>
              </a:rPr>
              <a:t>NEGATIVO — DISTRIBUCIÓN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931920"/>
            <a:ext cx="4297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A8DA0"/>
                </a:solidFill>
                <a:latin typeface="Poppins"/>
              </a:rPr>
              <a:t>"Somos tienda en Cancún y queremos distribuir Kisha, pero nadie nos contesta."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90288"/>
            <a:ext cx="10561320" cy="658368"/>
          </a:xfrm>
          <a:prstGeom prst="roundRect">
            <a:avLst>
              <a:gd name="adj" fmla="val 3000"/>
            </a:avLst>
          </a:prstGeom>
          <a:solidFill>
            <a:srgbClr val="16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590288"/>
            <a:ext cx="27432" cy="6583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718303"/>
            <a:ext cx="10305288" cy="512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  <a:latin typeface="Poppins"/>
              </a:rPr>
              <a:t>Alerta para el cliente: 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Las quejas de empaque y distribución son recurrentes desde enero (78% del sentimiento negativo). </a:t>
            </a:r>
            <a:r>
              <a:rPr sz="1300" b="1" i="0">
                <a:solidFill>
                  <a:srgbClr val="F4A261"/>
                </a:solidFill>
                <a:latin typeface="Poppins"/>
              </a:rPr>
              <a:t>Recomendamos escalar al equipo de operaciones.</a:t>
            </a:r>
          </a:p>
        </p:txBody>
      </p:sp>
      <p:pic>
        <p:nvPicPr>
          <p:cNvPr id="29" name="Picture 28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164592"/>
            <a:ext cx="11814048" cy="635508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4E9EF"/>
                </a:solidFill>
                <a:latin typeface="Poppins"/>
              </a:rPr>
              <a:t>Next Steps — Abril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25296"/>
            <a:ext cx="2971800" cy="2880360"/>
          </a:xfrm>
          <a:prstGeom prst="roundRect">
            <a:avLst>
              <a:gd name="adj" fmla="val 4000"/>
            </a:avLst>
          </a:prstGeom>
          <a:solidFill>
            <a:srgbClr val="2EC4B6"/>
          </a:solidFill>
          <a:ln w="1270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44475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EC4B6"/>
                </a:solidFill>
                <a:latin typeface="Poppins"/>
              </a:rPr>
              <a:t>Keep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28800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Inversión prioritaria en Google Ads (ROAS 6.6x sostenido)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Contenido con mascotas reales como pilar editorial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06624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Giveaways mensuales — alimentan crecimiento orgánico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145536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Distribución 35/25/25/15 entre plataformas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2" y="1225296"/>
            <a:ext cx="2971800" cy="2880360"/>
          </a:xfrm>
          <a:prstGeom prst="roundRect">
            <a:avLst>
              <a:gd name="adj" fmla="val 4000"/>
            </a:avLst>
          </a:prstGeom>
          <a:solidFill>
            <a:srgbClr val="5FB8D9"/>
          </a:solidFill>
          <a:ln w="12700">
            <a:solidFill>
              <a:srgbClr val="5FB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4475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5FB8D9"/>
                </a:solidFill>
                <a:latin typeface="Poppins"/>
              </a:rPr>
              <a:t>Change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828800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Reducir promo pura (ER 2.3%) → formato híbrido (beneficio + incentivo)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6771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Optimizar embudo post-clic en Shopify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06624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Segmentación Meta: lookalike de compradores &gt; intereses amplios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1225296"/>
            <a:ext cx="2971800" cy="2880360"/>
          </a:xfrm>
          <a:prstGeom prst="roundRect">
            <a:avLst>
              <a:gd name="adj" fmla="val 4000"/>
            </a:avLst>
          </a:prstGeom>
          <a:solidFill>
            <a:srgbClr val="F4A261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4" y="144475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4A261"/>
                </a:solidFill>
                <a:latin typeface="Poppins"/>
              </a:rPr>
              <a:t>Start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28800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Remarketing a carritos abandonados (Meta + Google)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2267712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Secuencia: Atracción → Consideración → Conversión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2706624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Test A/B: aspiracional vs. promo vs. híbrido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3145536"/>
            <a:ext cx="2542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4E9EF"/>
                </a:solidFill>
                <a:latin typeface="Poppins"/>
              </a:rPr>
              <a:t>• Medición semanal de ROAS y ticket promedio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389120"/>
            <a:ext cx="5230368" cy="877824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590288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0F13"/>
                </a:solidFill>
                <a:latin typeface="Poppins"/>
              </a:rPr>
              <a:t>Google es la máquina de ROAS. 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Cada peso genera $6.60. Prioridad en budget de conversión.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" y="4572000"/>
            <a:ext cx="2240280" cy="2011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80176" y="4389120"/>
            <a:ext cx="5230368" cy="877824"/>
          </a:xfrm>
          <a:prstGeom prst="roundRect">
            <a:avLst>
              <a:gd name="adj" fmla="val 4000"/>
            </a:avLst>
          </a:prstGeom>
          <a:solidFill>
            <a:srgbClr val="161D26"/>
          </a:solidFill>
          <a:ln w="12700">
            <a:solidFill>
              <a:srgbClr val="1E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4590288"/>
            <a:ext cx="47548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0F13"/>
                </a:solidFill>
                <a:latin typeface="Poppins"/>
              </a:rPr>
              <a:t>Noble es la sorpresa orgánica. </a:t>
            </a:r>
            <a:r>
              <a:rPr sz="1300" b="0" i="0">
                <a:solidFill>
                  <a:srgbClr val="E4E9EF"/>
                </a:solidFill>
                <a:latin typeface="Poppins"/>
              </a:rPr>
              <a:t>ER de 11.16% con la base más pequeña. Invertir ahora tiene efecto compuesto.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4572000"/>
            <a:ext cx="2240280" cy="20116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Mescalin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6181344"/>
            <a:ext cx="701786" cy="1097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247120" y="612648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A6A"/>
                </a:solidFill>
                <a:latin typeface="Poppins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